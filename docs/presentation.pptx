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67" r:id="rId12"/>
    <p:sldId id="269" r:id="rId13"/>
    <p:sldId id="268" r:id="rId14"/>
    <p:sldId id="276" r:id="rId15"/>
    <p:sldId id="270" r:id="rId16"/>
    <p:sldId id="265" r:id="rId17"/>
    <p:sldId id="272" r:id="rId18"/>
    <p:sldId id="275" r:id="rId19"/>
    <p:sldId id="271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1735" y="955040"/>
            <a:ext cx="9827895" cy="2235200"/>
          </a:xfrm>
        </p:spPr>
        <p:txBody>
          <a:bodyPr>
            <a:noAutofit/>
          </a:bodyPr>
          <a:lstStyle/>
          <a:p>
            <a:r>
              <a:rPr lang="en-US" altLang="en-GB" sz="66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Forecasting German Day-Ahead Electricity Prices</a:t>
            </a:r>
            <a:endParaRPr lang="en-US" altLang="en-GB" sz="6600" b="1" dirty="0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53735" y="4846320"/>
            <a:ext cx="5572760" cy="1381125"/>
          </a:xfrm>
        </p:spPr>
        <p:txBody>
          <a:bodyPr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>
                <a:solidFill>
                  <a:schemeClr val="tx1"/>
                </a:solidFill>
                <a:latin typeface="Times New Roman" panose="02020603050405020304" charset="0"/>
                <a:ea typeface="EB Garamond"/>
                <a:cs typeface="Times New Roman" panose="02020603050405020304" charset="0"/>
                <a:sym typeface="EB Garamond"/>
              </a:rPr>
              <a:t>Presented by:</a:t>
            </a:r>
            <a:r>
              <a:rPr lang="en-US" altLang="en-GB" sz="4000" dirty="0">
                <a:solidFill>
                  <a:schemeClr val="tx1"/>
                </a:solidFill>
                <a:latin typeface="Times New Roman" panose="02020603050405020304" charset="0"/>
                <a:ea typeface="EB Garamond"/>
                <a:cs typeface="Times New Roman" panose="02020603050405020304" charset="0"/>
                <a:sym typeface="EB Garamond"/>
              </a:rPr>
              <a:t>  </a:t>
            </a:r>
            <a:r>
              <a:rPr lang="en-US" altLang="en-GB" sz="3600" dirty="0" smtClean="0">
                <a:solidFill>
                  <a:schemeClr val="tx1"/>
                </a:solidFill>
                <a:latin typeface="Times New Roman" panose="02020603050405020304" charset="0"/>
                <a:ea typeface="EB Garamond"/>
                <a:cs typeface="Times New Roman" panose="02020603050405020304" charset="0"/>
                <a:sym typeface="EB Garamond"/>
              </a:rPr>
              <a:t>Kanak Jyoti</a:t>
            </a:r>
            <a:endParaRPr lang="en-US" altLang="en-GB" sz="3600" dirty="0" smtClean="0">
              <a:solidFill>
                <a:schemeClr val="tx1"/>
              </a:solidFill>
              <a:latin typeface="Times New Roman" panose="02020603050405020304" charset="0"/>
              <a:ea typeface="EB Garamond"/>
              <a:cs typeface="Times New Roman" panose="02020603050405020304" charset="0"/>
              <a:sym typeface="EB Garamond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181735" y="3429000"/>
            <a:ext cx="9827895" cy="7245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en-GB" sz="320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Hourly prediction for 10 Feb 2026</a:t>
            </a:r>
            <a:endParaRPr lang="en-US" altLang="en-GB" sz="3200">
              <a:solidFill>
                <a:schemeClr val="accent1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3945"/>
          </a:xfrm>
        </p:spPr>
        <p:txBody>
          <a:bodyPr/>
          <a:p>
            <a:pPr algn="ctr"/>
            <a:r>
              <a:rPr lang="en-US" altLang="en-GB" sz="5200" b="1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Problem Overview</a:t>
            </a:r>
            <a:endParaRPr lang="en-US" altLang="en-GB" sz="5200" b="1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49070"/>
            <a:ext cx="10951845" cy="4728210"/>
          </a:xfrm>
        </p:spPr>
        <p:txBody>
          <a:bodyPr/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Hourly price variation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High volatility &amp; spikes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Driven by demand &amp; renewables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 descr="price over ti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680" y="2929255"/>
            <a:ext cx="10513695" cy="38296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79220"/>
          </a:xfrm>
        </p:spPr>
        <p:txBody>
          <a:bodyPr/>
          <a:p>
            <a:pPr algn="ctr"/>
            <a:r>
              <a:rPr lang="en-US" altLang="en-GB" sz="5200" b="1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Goal</a:t>
            </a:r>
            <a:endParaRPr lang="en-US" altLang="en-GB" sz="5200" b="1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56715"/>
            <a:ext cx="10515600" cy="3499485"/>
          </a:xfrm>
        </p:spPr>
        <p:txBody>
          <a:bodyPr anchor="ctr" anchorCtr="0"/>
          <a:p>
            <a:pPr fontAlgn="t">
              <a:lnSpc>
                <a:spcPct val="150000"/>
              </a:lnSpc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Predict 24 hourly prices for a target day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fontAlgn="t">
              <a:lnSpc>
                <a:spcPct val="150000"/>
              </a:lnSpc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Focus on realistic forecasting (no future data)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fontAlgn="t">
              <a:lnSpc>
                <a:spcPct val="150000"/>
              </a:lnSpc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Build a robust &amp; explainable model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21105"/>
          </a:xfrm>
        </p:spPr>
        <p:txBody>
          <a:bodyPr/>
          <a:p>
            <a:pPr algn="ctr"/>
            <a:r>
              <a:rPr lang="en-US" altLang="en-GB" sz="5200" b="1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Approach</a:t>
            </a:r>
            <a:endParaRPr lang="en-US" altLang="en-GB" sz="5200" b="1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0820"/>
            <a:ext cx="10599420" cy="4591685"/>
          </a:xfrm>
        </p:spPr>
        <p:txBody>
          <a:bodyPr anchor="ctr" anchorCtr="0"/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r>
              <a:rPr lang="en-US" altLang="en-GB"/>
              <a:t>Time-based split</a:t>
            </a:r>
            <a:endParaRPr lang="en-US" altLang="en-GB"/>
          </a:p>
          <a:p>
            <a:r>
              <a:rPr lang="en-US" altLang="en-GB"/>
              <a:t>Lag features + external variables</a:t>
            </a:r>
            <a:endParaRPr lang="en-US" altLang="en-GB"/>
          </a:p>
          <a:p>
            <a:r>
              <a:rPr lang="en-US" altLang="en-GB"/>
              <a:t>Model comparison (Baseline </a:t>
            </a:r>
            <a:r>
              <a:rPr lang="en-US" altLang="en-US"/>
              <a:t>→</a:t>
            </a:r>
            <a:r>
              <a:rPr lang="en-US" altLang="en-GB"/>
              <a:t> ML)</a:t>
            </a:r>
            <a:endParaRPr lang="en-US" altLang="en-GB"/>
          </a:p>
        </p:txBody>
      </p:sp>
      <p:sp>
        <p:nvSpPr>
          <p:cNvPr id="4" name="Flowchart: Alternate Process 3"/>
          <p:cNvSpPr/>
          <p:nvPr/>
        </p:nvSpPr>
        <p:spPr>
          <a:xfrm>
            <a:off x="697865" y="1905000"/>
            <a:ext cx="2093595" cy="911860"/>
          </a:xfrm>
          <a:prstGeom prst="flowChartAlternateProcess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en-GB" sz="2800">
                <a:latin typeface="Times New Roman" panose="02020603050405020304" charset="0"/>
                <a:cs typeface="Times New Roman" panose="02020603050405020304" charset="0"/>
              </a:rPr>
              <a:t>Data</a:t>
            </a:r>
            <a:endParaRPr lang="en-US" altLang="en-GB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Flowchart: Alternate Process 4"/>
          <p:cNvSpPr/>
          <p:nvPr/>
        </p:nvSpPr>
        <p:spPr>
          <a:xfrm>
            <a:off x="3393440" y="1905000"/>
            <a:ext cx="2094230" cy="911860"/>
          </a:xfrm>
          <a:prstGeom prst="flowChartAlternateProcess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en-GB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EDA </a:t>
            </a:r>
            <a:endParaRPr lang="en-US" altLang="en-GB" sz="2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Flowchart: Alternate Process 5"/>
          <p:cNvSpPr/>
          <p:nvPr/>
        </p:nvSpPr>
        <p:spPr>
          <a:xfrm>
            <a:off x="8785225" y="1905000"/>
            <a:ext cx="2093595" cy="911860"/>
          </a:xfrm>
          <a:prstGeom prst="flowChartAlternateProcess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en-GB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Evaluation</a:t>
            </a:r>
            <a:endParaRPr lang="en-US" altLang="en-GB" sz="2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Flowchart: Alternate Process 6"/>
          <p:cNvSpPr/>
          <p:nvPr/>
        </p:nvSpPr>
        <p:spPr>
          <a:xfrm>
            <a:off x="6089650" y="1905000"/>
            <a:ext cx="2093595" cy="911860"/>
          </a:xfrm>
          <a:prstGeom prst="flowChartAlternateProcess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en-GB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Feature Engineering</a:t>
            </a:r>
            <a:endParaRPr lang="en-GB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Flowchart: Alternate Process 7"/>
          <p:cNvSpPr/>
          <p:nvPr/>
        </p:nvSpPr>
        <p:spPr>
          <a:xfrm>
            <a:off x="8784590" y="3429000"/>
            <a:ext cx="2094230" cy="911860"/>
          </a:xfrm>
          <a:prstGeom prst="flowChartAlternateProcess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en-GB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Models </a:t>
            </a:r>
            <a:endParaRPr lang="en-US" altLang="en-GB" sz="2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8185150" y="2118360"/>
            <a:ext cx="601345" cy="485775"/>
          </a:xfrm>
          <a:prstGeom prst="right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1" name="Right Arrow 10"/>
          <p:cNvSpPr/>
          <p:nvPr/>
        </p:nvSpPr>
        <p:spPr>
          <a:xfrm>
            <a:off x="2791460" y="2118360"/>
            <a:ext cx="601345" cy="485775"/>
          </a:xfrm>
          <a:prstGeom prst="right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2" name="Right Arrow 11"/>
          <p:cNvSpPr/>
          <p:nvPr/>
        </p:nvSpPr>
        <p:spPr>
          <a:xfrm>
            <a:off x="5488305" y="2118360"/>
            <a:ext cx="601345" cy="485775"/>
          </a:xfrm>
          <a:prstGeom prst="right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3" name="Down Arrow 12"/>
          <p:cNvSpPr/>
          <p:nvPr/>
        </p:nvSpPr>
        <p:spPr>
          <a:xfrm>
            <a:off x="9614535" y="2816860"/>
            <a:ext cx="434340" cy="609600"/>
          </a:xfrm>
          <a:prstGeom prst="down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1150"/>
            <a:ext cx="10515600" cy="1243965"/>
          </a:xfrm>
        </p:spPr>
        <p:txBody>
          <a:bodyPr/>
          <a:p>
            <a:pPr algn="ctr"/>
            <a:r>
              <a:rPr lang="en-US" altLang="en-GB" sz="5200" b="1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Data</a:t>
            </a:r>
            <a:endParaRPr lang="en-US" altLang="en-GB" sz="5200" b="1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9700"/>
            <a:ext cx="10515600" cy="4767580"/>
          </a:xfrm>
        </p:spPr>
        <p:txBody>
          <a:bodyPr anchor="ctr" anchorCtr="0">
            <a:normAutofit lnSpcReduction="20000"/>
          </a:bodyPr>
          <a:p>
            <a:pPr marL="0" indent="0">
              <a:lnSpc>
                <a:spcPct val="150000"/>
              </a:lnSpc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Source: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SMARD (Germany)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Target: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Day-ahead price (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€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/MWh)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Features: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Load (demand)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Wind generation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Solar generation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Time range: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1st Jan 2023 – 9th Feb 2026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93165"/>
          </a:xfrm>
        </p:spPr>
        <p:txBody>
          <a:bodyPr/>
          <a:p>
            <a:pPr algn="ctr"/>
            <a:r>
              <a:rPr lang="en-US" altLang="en-GB" sz="5200" b="1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Temporal Patterns</a:t>
            </a:r>
            <a:endParaRPr lang="en-US" altLang="en-GB" sz="5200" b="1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Content Placeholder 5" descr="avg price by hour"/>
          <p:cNvPicPr/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5250" y="2007870"/>
            <a:ext cx="5810885" cy="3404235"/>
          </a:xfrm>
          <a:prstGeom prst="rect">
            <a:avLst/>
          </a:prstGeom>
        </p:spPr>
      </p:pic>
      <p:pic>
        <p:nvPicPr>
          <p:cNvPr id="7" name="Picture 6" descr="avg price by week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01385" y="2007870"/>
            <a:ext cx="5970270" cy="33953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6965"/>
          </a:xfrm>
        </p:spPr>
        <p:txBody>
          <a:bodyPr/>
          <a:p>
            <a:pPr algn="ctr"/>
            <a:r>
              <a:rPr lang="en-US" altLang="en-GB" sz="5200" b="1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Price Distribution</a:t>
            </a:r>
            <a:endParaRPr lang="en-US" altLang="en-GB" sz="5200" b="1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 descr="price distribu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915" y="1539240"/>
            <a:ext cx="8980805" cy="48406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6490"/>
          </a:xfrm>
        </p:spPr>
        <p:txBody>
          <a:bodyPr/>
          <a:p>
            <a:pPr algn="ctr"/>
            <a:r>
              <a:rPr lang="en-US" altLang="en-GB" sz="5200" b="1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Price Drivers</a:t>
            </a:r>
            <a:endParaRPr lang="en-US" altLang="en-GB" sz="5200" b="1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 descr="price vs load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3350" y="1631950"/>
            <a:ext cx="5838825" cy="3949700"/>
          </a:xfrm>
          <a:prstGeom prst="rect">
            <a:avLst/>
          </a:prstGeom>
        </p:spPr>
      </p:pic>
      <p:pic>
        <p:nvPicPr>
          <p:cNvPr id="5" name="Picture 4" descr="price vs wi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890" y="1690370"/>
            <a:ext cx="5877560" cy="3891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75385"/>
          </a:xfrm>
        </p:spPr>
        <p:txBody>
          <a:bodyPr/>
          <a:p>
            <a:pPr algn="ctr"/>
            <a:r>
              <a:rPr lang="en-US" altLang="en-GB" sz="5200" b="1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Feature Engineering</a:t>
            </a:r>
            <a:endParaRPr lang="en-US" altLang="en-GB" sz="5200" b="1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4940"/>
            <a:ext cx="10515600" cy="4571365"/>
          </a:xfrm>
        </p:spPr>
        <p:txBody>
          <a:bodyPr anchor="ctr" anchorCtr="0">
            <a:normAutofit/>
          </a:bodyPr>
          <a:p>
            <a:pPr marL="0" indent="0">
              <a:lnSpc>
                <a:spcPct val="150000"/>
              </a:lnSpc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Time features: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Hour, Day of week, Month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Lag features: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t-24, t-168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Rolling features: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24-hour rolling mean &amp; std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External features: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Load, Wind, Solar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Only past data used (no data leakage)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9875"/>
            <a:ext cx="10515600" cy="1196340"/>
          </a:xfrm>
        </p:spPr>
        <p:txBody>
          <a:bodyPr/>
          <a:p>
            <a:pPr algn="ctr"/>
            <a:r>
              <a:rPr lang="en-US" altLang="en-GB" sz="5200" b="1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Modeling Approach</a:t>
            </a:r>
            <a:endParaRPr lang="en-US" altLang="en-GB" sz="5200" b="1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7385" y="1641475"/>
            <a:ext cx="5429250" cy="4649470"/>
          </a:xfrm>
        </p:spPr>
        <p:txBody>
          <a:bodyPr>
            <a:noAutofit/>
          </a:bodyPr>
          <a:p>
            <a:pPr marL="0" indent="0">
              <a:lnSpc>
                <a:spcPct val="100000"/>
              </a:lnSpc>
              <a:buNone/>
            </a:pPr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  <a:t>Baselines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Lag-24 baseline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  <a:t>Machine Learning</a:t>
            </a:r>
            <a:endParaRPr lang="en-US" altLang="en-GB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Ridge Regression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XGBoost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XGBoost + tuning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Bayesian-optimized XGBoost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96635" y="1641475"/>
            <a:ext cx="4886325" cy="4693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50000"/>
              </a:lnSpc>
              <a:buNone/>
            </a:pPr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Time-Series</a:t>
            </a:r>
            <a:endParaRPr lang="en-US" altLang="en-GB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Prophet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Evaluation</a:t>
            </a:r>
            <a:endParaRPr lang="en-US" altLang="en-GB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Historical test performance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Final forecast: 10 Feb 2026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sz="5200" b="1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Model Performance</a:t>
            </a:r>
            <a:endParaRPr lang="en-US" altLang="en-GB" sz="5200" b="1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1"/>
            </p:custDataLst>
          </p:nvPr>
        </p:nvGraphicFramePr>
        <p:xfrm>
          <a:off x="1795145" y="1691005"/>
          <a:ext cx="8601710" cy="443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0855"/>
                <a:gridCol w="4300855"/>
              </a:tblGrid>
              <a:tr h="55499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Model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Historical Test MAE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55499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Lag-24 Baseline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~22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55499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Ridge (time only)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~20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55499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Ridge (</a:t>
                      </a:r>
                      <a:r>
                        <a:rPr lang="en-US"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external</a:t>
                      </a:r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 features)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~15.3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55499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Prophet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~26.8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55499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XGBoost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~12.7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55499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XGBoost tuned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~12.2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55499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XGBoost Bayesian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~9.6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22375"/>
          </a:xfrm>
        </p:spPr>
        <p:txBody>
          <a:bodyPr/>
          <a:p>
            <a:pPr algn="ctr"/>
            <a:r>
              <a:rPr lang="en-US" altLang="en-GB" sz="5200" b="1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Best Model: XGBoost Bayesian</a:t>
            </a:r>
            <a:endParaRPr lang="en-US" altLang="en-GB" sz="5200" b="1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 descr="actual_vs_xgboost_prediction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97230" y="1687195"/>
            <a:ext cx="10796905" cy="4627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sz="5200" b="1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Error Analysis</a:t>
            </a:r>
            <a:endParaRPr lang="en-US" altLang="en-GB" sz="5200" b="1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48355"/>
          </a:xfrm>
        </p:spPr>
        <p:txBody>
          <a:bodyPr anchor="ctr" anchorCtr="0"/>
          <a:p>
            <a:pPr marL="0" indent="0">
              <a:lnSpc>
                <a:spcPct val="150000"/>
              </a:lnSpc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Error analysis based on best historical model (XGBoost Bayesian)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Errors concentrated during extreme price events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Model underestimates sharp spikes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Performance depends on volatility level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sz="5200" b="1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Final Forecast: 10 Feb 2026</a:t>
            </a:r>
            <a:endParaRPr lang="en-US" altLang="en-GB" sz="5200" b="1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 descr="xgboost_vs_actual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783715"/>
            <a:ext cx="10514965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sz="5200" b="1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Final Forecast Comparison</a:t>
            </a:r>
            <a:endParaRPr lang="en-US" altLang="en-GB" sz="5200" b="1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1"/>
            </p:custDataLst>
          </p:nvPr>
        </p:nvGraphicFramePr>
        <p:xfrm>
          <a:off x="2726055" y="1997075"/>
          <a:ext cx="6739890" cy="387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9945"/>
                <a:gridCol w="3369945"/>
              </a:tblGrid>
              <a:tr h="969010">
                <a:tc>
                  <a:txBody>
                    <a:bodyPr/>
                    <a:p>
                      <a:pPr algn="ctr"/>
                      <a:r>
                        <a:rPr sz="3200" b="1" i="0">
                          <a:solidFill>
                            <a:schemeClr val="bg1"/>
                          </a:solidFill>
                          <a:latin typeface="Times New Roman" panose="02020603050405020304" charset="0"/>
                          <a:ea typeface="Mona Sans VF"/>
                          <a:cs typeface="Times New Roman" panose="02020603050405020304" charset="0"/>
                        </a:rPr>
                        <a:t>Model</a:t>
                      </a:r>
                      <a:endParaRPr sz="3200" b="1" i="0">
                        <a:solidFill>
                          <a:schemeClr val="bg1"/>
                        </a:solidFill>
                        <a:latin typeface="Times New Roman" panose="02020603050405020304" charset="0"/>
                        <a:ea typeface="Mona Sans VF"/>
                        <a:cs typeface="Times New Roman" panose="02020603050405020304" charset="0"/>
                      </a:endParaRPr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ctr"/>
                      <a:r>
                        <a:rPr sz="3200" b="1" i="0">
                          <a:solidFill>
                            <a:schemeClr val="bg1"/>
                          </a:solidFill>
                          <a:latin typeface="Times New Roman" panose="02020603050405020304" charset="0"/>
                          <a:ea typeface="Mona Sans VF"/>
                          <a:cs typeface="Times New Roman" panose="02020603050405020304" charset="0"/>
                        </a:rPr>
                        <a:t>MAE</a:t>
                      </a:r>
                      <a:endParaRPr sz="3200" b="1" i="0">
                        <a:solidFill>
                          <a:schemeClr val="bg1"/>
                        </a:solidFill>
                        <a:latin typeface="Times New Roman" panose="02020603050405020304" charset="0"/>
                        <a:ea typeface="Mona Sans VF"/>
                        <a:cs typeface="Times New Roman" panose="02020603050405020304" charset="0"/>
                      </a:endParaRPr>
                    </a:p>
                  </a:txBody>
                  <a:tcPr marL="99377" marR="99377" marT="46037" marB="46037" anchor="ctr" anchorCtr="0"/>
                </a:tc>
              </a:tr>
              <a:tr h="969010">
                <a:tc>
                  <a:txBody>
                    <a:bodyPr/>
                    <a:p>
                      <a:pPr algn="ctr"/>
                      <a:r>
                        <a:rPr sz="2800" b="0" i="0">
                          <a:solidFill>
                            <a:srgbClr val="1F2328"/>
                          </a:solidFill>
                          <a:latin typeface="Times New Roman" panose="02020603050405020304" charset="0"/>
                          <a:ea typeface="Mona Sans VF"/>
                          <a:cs typeface="Times New Roman" panose="02020603050405020304" charset="0"/>
                        </a:rPr>
                        <a:t>XGBoost</a:t>
                      </a:r>
                      <a:endParaRPr sz="2800" b="0" i="0">
                        <a:solidFill>
                          <a:srgbClr val="1F2328"/>
                        </a:solidFill>
                        <a:latin typeface="Times New Roman" panose="02020603050405020304" charset="0"/>
                        <a:ea typeface="Mona Sans VF"/>
                        <a:cs typeface="Times New Roman" panose="02020603050405020304" charset="0"/>
                      </a:endParaRPr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ctr"/>
                      <a:r>
                        <a:rPr sz="2800" b="0" i="0">
                          <a:solidFill>
                            <a:srgbClr val="1F2328"/>
                          </a:solidFill>
                          <a:latin typeface="Times New Roman" panose="02020603050405020304" charset="0"/>
                          <a:ea typeface="Mona Sans VF"/>
                          <a:cs typeface="Times New Roman" panose="02020603050405020304" charset="0"/>
                        </a:rPr>
                        <a:t>22.665</a:t>
                      </a:r>
                      <a:endParaRPr sz="2800" b="0" i="0">
                        <a:solidFill>
                          <a:srgbClr val="1F2328"/>
                        </a:solidFill>
                        <a:latin typeface="Times New Roman" panose="02020603050405020304" charset="0"/>
                        <a:ea typeface="Mona Sans VF"/>
                        <a:cs typeface="Times New Roman" panose="02020603050405020304" charset="0"/>
                      </a:endParaRPr>
                    </a:p>
                  </a:txBody>
                  <a:tcPr marL="99377" marR="99377" marT="46037" marB="46037" anchor="ctr" anchorCtr="0"/>
                </a:tc>
              </a:tr>
              <a:tr h="969010">
                <a:tc>
                  <a:txBody>
                    <a:bodyPr/>
                    <a:p>
                      <a:pPr algn="ctr"/>
                      <a:r>
                        <a:rPr sz="2800" b="0" i="0">
                          <a:solidFill>
                            <a:srgbClr val="1F2328"/>
                          </a:solidFill>
                          <a:latin typeface="Times New Roman" panose="02020603050405020304" charset="0"/>
                          <a:ea typeface="Mona Sans VF"/>
                          <a:cs typeface="Times New Roman" panose="02020603050405020304" charset="0"/>
                        </a:rPr>
                        <a:t>Ridge</a:t>
                      </a:r>
                      <a:endParaRPr sz="2800" b="0" i="0">
                        <a:solidFill>
                          <a:srgbClr val="1F2328"/>
                        </a:solidFill>
                        <a:latin typeface="Times New Roman" panose="02020603050405020304" charset="0"/>
                        <a:ea typeface="Mona Sans VF"/>
                        <a:cs typeface="Times New Roman" panose="02020603050405020304" charset="0"/>
                      </a:endParaRPr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ctr"/>
                      <a:r>
                        <a:rPr sz="2800" b="0" i="0">
                          <a:solidFill>
                            <a:srgbClr val="1F2328"/>
                          </a:solidFill>
                          <a:latin typeface="Times New Roman" panose="02020603050405020304" charset="0"/>
                          <a:ea typeface="Mona Sans VF"/>
                          <a:cs typeface="Times New Roman" panose="02020603050405020304" charset="0"/>
                        </a:rPr>
                        <a:t>22.140</a:t>
                      </a:r>
                      <a:endParaRPr sz="2800" b="0" i="0">
                        <a:solidFill>
                          <a:srgbClr val="1F2328"/>
                        </a:solidFill>
                        <a:latin typeface="Times New Roman" panose="02020603050405020304" charset="0"/>
                        <a:ea typeface="Mona Sans VF"/>
                        <a:cs typeface="Times New Roman" panose="02020603050405020304" charset="0"/>
                      </a:endParaRPr>
                    </a:p>
                  </a:txBody>
                  <a:tcPr marL="99377" marR="99377" marT="46037" marB="46037" anchor="ctr" anchorCtr="0"/>
                </a:tc>
              </a:tr>
              <a:tr h="969010">
                <a:tc>
                  <a:txBody>
                    <a:bodyPr/>
                    <a:p>
                      <a:pPr algn="ctr"/>
                      <a:r>
                        <a:rPr sz="2800" b="0" i="0">
                          <a:solidFill>
                            <a:srgbClr val="1F2328"/>
                          </a:solidFill>
                          <a:latin typeface="Times New Roman" panose="02020603050405020304" charset="0"/>
                          <a:ea typeface="Mona Sans VF"/>
                          <a:cs typeface="Times New Roman" panose="02020603050405020304" charset="0"/>
                        </a:rPr>
                        <a:t>Prophet</a:t>
                      </a:r>
                      <a:endParaRPr sz="2800" b="0" i="0">
                        <a:solidFill>
                          <a:srgbClr val="1F2328"/>
                        </a:solidFill>
                        <a:latin typeface="Times New Roman" panose="02020603050405020304" charset="0"/>
                        <a:ea typeface="Mona Sans VF"/>
                        <a:cs typeface="Times New Roman" panose="02020603050405020304" charset="0"/>
                      </a:endParaRPr>
                    </a:p>
                  </a:txBody>
                  <a:tcPr marL="99377" marR="99377" marT="46037" marB="46037" anchor="ctr" anchorCtr="0"/>
                </a:tc>
                <a:tc>
                  <a:txBody>
                    <a:bodyPr/>
                    <a:p>
                      <a:pPr algn="ctr">
                        <a:spcAft>
                          <a:spcPct val="0"/>
                        </a:spcAft>
                      </a:pPr>
                      <a:r>
                        <a:rPr sz="2800" b="0" i="0">
                          <a:solidFill>
                            <a:srgbClr val="1F2328"/>
                          </a:solidFill>
                          <a:latin typeface="Times New Roman" panose="02020603050405020304" charset="0"/>
                          <a:ea typeface="Mona Sans VF"/>
                          <a:cs typeface="Times New Roman" panose="02020603050405020304" charset="0"/>
                        </a:rPr>
                        <a:t>16.607</a:t>
                      </a:r>
                      <a:endParaRPr sz="2800" b="0" i="0">
                        <a:solidFill>
                          <a:srgbClr val="1F2328"/>
                        </a:solidFill>
                        <a:latin typeface="Times New Roman" panose="02020603050405020304" charset="0"/>
                        <a:ea typeface="Mona Sans VF"/>
                        <a:cs typeface="Times New Roman" panose="02020603050405020304" charset="0"/>
                      </a:endParaRPr>
                    </a:p>
                  </a:txBody>
                  <a:tcPr marL="99377" marR="99377" marT="46037" marB="46037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final_prediction_comparison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5950" y="1186815"/>
            <a:ext cx="10960100" cy="46970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6790"/>
            <a:ext cx="10515600" cy="4370705"/>
          </a:xfrm>
        </p:spPr>
        <p:txBody>
          <a:bodyPr anchor="ctr" anchorCtr="0"/>
          <a:p>
            <a:pPr marL="0" indent="0">
              <a:lnSpc>
                <a:spcPct val="150000"/>
              </a:lnSpc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Key Insight: 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Best historical model: XGBoost (MAE ≈ 9.6)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Best real-world model: Prophet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Reason: future external data unavailable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sz="5200" b="1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altLang="en-GB" sz="5200" b="1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640"/>
            <a:ext cx="10515600" cy="4485640"/>
          </a:xfrm>
        </p:spPr>
        <p:txBody>
          <a:bodyPr anchor="ctr" anchorCtr="0"/>
          <a:p>
            <a:pPr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XGBoost achieved best historical accuracy (MAE ≈ 9.6)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Strong impact of feature engineering (lags, rolling stats, external variables)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Electricity prices show clear temporal patterns + high volatility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In real forecasting, performance drops due to unavailable future inputs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Prophet provides more realistic forecasts under these constraints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sz="5200" b="1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Future Work</a:t>
            </a:r>
            <a:endParaRPr lang="en-US" altLang="en-GB" sz="5200" b="1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486275"/>
          </a:xfrm>
        </p:spPr>
        <p:txBody>
          <a:bodyPr anchor="ctr" anchorCtr="0"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Use forecasted external variables (load, wind, solar)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Explore hybrid models (ML + time-series)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Improve modeling of price spikes / extreme events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Incorporate additional signals (weather, imports/exports)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Try probabilistic forecasting instead of point predictions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060"/>
            <a:ext cx="10515600" cy="1325563"/>
          </a:xfrm>
        </p:spPr>
        <p:txBody>
          <a:bodyPr/>
          <a:p>
            <a:pPr algn="ctr"/>
            <a:r>
              <a:rPr lang="en-US" altLang="en-GB" sz="8000"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endParaRPr lang="en-US" altLang="en-GB" sz="8000" b="1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77*349"/>
  <p:tag name="TABLE_ENDDRAG_RECT" val="66*140*677*349"/>
</p:tagLst>
</file>

<file path=ppt/tags/tag2.xml><?xml version="1.0" encoding="utf-8"?>
<p:tagLst xmlns:p="http://schemas.openxmlformats.org/presentationml/2006/main">
  <p:tag name="TABLE_ENDDRAG_ORIGIN_RECT" val="530*305"/>
  <p:tag name="TABLE_ENDDRAG_RECT" val="186*157*530*30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2297</Words>
  <Application>WPS Presentation</Application>
  <PresentationFormat>Widescreen</PresentationFormat>
  <Paragraphs>166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SimSun</vt:lpstr>
      <vt:lpstr>Wingdings</vt:lpstr>
      <vt:lpstr>Times New Roman</vt:lpstr>
      <vt:lpstr>EB Garamond</vt:lpstr>
      <vt:lpstr>Garamond</vt:lpstr>
      <vt:lpstr>Microsoft YaHei</vt:lpstr>
      <vt:lpstr>Arial Unicode MS</vt:lpstr>
      <vt:lpstr>Calibri Light</vt:lpstr>
      <vt:lpstr>Calibri</vt:lpstr>
      <vt:lpstr>Mona Sans VF</vt:lpstr>
      <vt:lpstr>Segoe Print</vt:lpstr>
      <vt:lpstr>Office Theme</vt:lpstr>
      <vt:lpstr>Forecasting German Day-Ahead Electricity Prices</vt:lpstr>
      <vt:lpstr>Problem Overview</vt:lpstr>
      <vt:lpstr>Goal</vt:lpstr>
      <vt:lpstr>Approach</vt:lpstr>
      <vt:lpstr>Data</vt:lpstr>
      <vt:lpstr>Temporal Patterns</vt:lpstr>
      <vt:lpstr>Price Distribution</vt:lpstr>
      <vt:lpstr>Price Drivers</vt:lpstr>
      <vt:lpstr>Feature Engineering</vt:lpstr>
      <vt:lpstr>Modeling Approach</vt:lpstr>
      <vt:lpstr>Model Performance</vt:lpstr>
      <vt:lpstr>Best Model: XGBoost Bayesian</vt:lpstr>
      <vt:lpstr>Error Analysis</vt:lpstr>
      <vt:lpstr>Final Forecast: 10 Feb 2026</vt:lpstr>
      <vt:lpstr>Final Forecast Comparison</vt:lpstr>
      <vt:lpstr>PowerPoint 演示文稿</vt:lpstr>
      <vt:lpstr>PowerPoint 演示文稿</vt:lpstr>
      <vt:lpstr>Conclusion</vt:lpstr>
      <vt:lpstr>Future Work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Kanak jyoti</cp:lastModifiedBy>
  <cp:revision>14</cp:revision>
  <dcterms:created xsi:type="dcterms:W3CDTF">2025-07-23T00:59:00Z</dcterms:created>
  <dcterms:modified xsi:type="dcterms:W3CDTF">2026-04-30T12:01:07Z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EC21EF93844849538B99C0E7279EC119_11</vt:lpwstr>
  </property>
  <property fmtid="{D5CDD505-2E9C-101B-9397-08002B2CF9AE}" pid="3" name="KSOProductBuildVer">
    <vt:lpwstr>2057-12.2.0.23202</vt:lpwstr>
  </property>
</Properties>
</file>